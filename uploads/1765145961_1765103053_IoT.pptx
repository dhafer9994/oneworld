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Red Hat Display Bold" charset="1" panose="02010803040201060303"/>
      <p:regular r:id="rId20"/>
    </p:embeddedFont>
    <p:embeddedFont>
      <p:font typeface="Canva Sans Bold" charset="1" panose="020B0803030501040103"/>
      <p:regular r:id="rId21"/>
    </p:embeddedFont>
    <p:embeddedFont>
      <p:font typeface="HK Grotesk Bold" charset="1" panose="00000800000000000000"/>
      <p:regular r:id="rId22"/>
    </p:embeddedFont>
    <p:embeddedFont>
      <p:font typeface="HK Grotesk Medium" charset="1" panose="00000600000000000000"/>
      <p:regular r:id="rId23"/>
    </p:embeddedFont>
    <p:embeddedFont>
      <p:font typeface="Montserrat" charset="1" panose="00000500000000000000"/>
      <p:regular r:id="rId24"/>
    </p:embeddedFont>
    <p:embeddedFont>
      <p:font typeface="Montserrat Bold" charset="1" panose="00000800000000000000"/>
      <p:regular r:id="rId25"/>
    </p:embeddedFont>
    <p:embeddedFont>
      <p:font typeface="Times New Roman MT Medium" charset="1" panose="02030502070405020303"/>
      <p:regular r:id="rId26"/>
    </p:embeddedFont>
    <p:embeddedFont>
      <p:font typeface="Times New Roman Bold" charset="1" panose="02020803070505020304"/>
      <p:regular r:id="rId27"/>
    </p:embeddedFont>
    <p:embeddedFont>
      <p:font typeface="Times New Roman" charset="1" panose="02020603050405020304"/>
      <p:regular r:id="rId28"/>
    </p:embeddedFont>
    <p:embeddedFont>
      <p:font typeface="Times New Roman MT" charset="1" panose="02030502070405020303"/>
      <p:regular r:id="rId29"/>
    </p:embeddedFont>
    <p:embeddedFont>
      <p:font typeface="Lora Bold" charset="1" panose="00000800000000000000"/>
      <p:regular r:id="rId30"/>
    </p:embeddedFont>
    <p:embeddedFont>
      <p:font typeface="Alice" charset="1" panose="00000500000000000000"/>
      <p:regular r:id="rId31"/>
    </p:embeddedFont>
    <p:embeddedFont>
      <p:font typeface="Clear Sans Bold" charset="1" panose="020B0803030202020304"/>
      <p:regular r:id="rId32"/>
    </p:embeddedFont>
    <p:embeddedFont>
      <p:font typeface="Times New Roman MT Italics" charset="1" panose="020305020704050903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7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8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9.png" Type="http://schemas.openxmlformats.org/officeDocument/2006/relationships/image"/><Relationship Id="rId4" Target="../embeddings/oleObject3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8786"/>
            <a:ext cx="18288000" cy="10404572"/>
          </a:xfrm>
          <a:custGeom>
            <a:avLst/>
            <a:gdLst/>
            <a:ahLst/>
            <a:cxnLst/>
            <a:rect r="r" b="b" t="t" l="l"/>
            <a:pathLst>
              <a:path h="10404572" w="18288000">
                <a:moveTo>
                  <a:pt x="0" y="0"/>
                </a:moveTo>
                <a:lnTo>
                  <a:pt x="18288000" y="0"/>
                </a:lnTo>
                <a:lnTo>
                  <a:pt x="18288000" y="10404572"/>
                </a:lnTo>
                <a:lnTo>
                  <a:pt x="0" y="10404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22" t="-6965" r="-13695" b="-92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79185" y="4345884"/>
            <a:ext cx="13433291" cy="61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6"/>
              </a:lnSpc>
            </a:pPr>
            <a:r>
              <a:rPr lang="en-US" b="true" sz="3576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Travail élaboré par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13603" y="5123717"/>
            <a:ext cx="8369307" cy="450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9681" indent="-394840" lvl="1">
              <a:lnSpc>
                <a:spcPts val="5120"/>
              </a:lnSpc>
              <a:buFont typeface="Arial"/>
              <a:buChar char="•"/>
            </a:pPr>
            <a:r>
              <a:rPr lang="en-US" b="true" sz="36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Manana Ben aissa</a:t>
            </a:r>
          </a:p>
          <a:p>
            <a:pPr algn="l" marL="789681" indent="-394840" lvl="1">
              <a:lnSpc>
                <a:spcPts val="5120"/>
              </a:lnSpc>
              <a:buFont typeface="Arial"/>
              <a:buChar char="•"/>
            </a:pPr>
            <a:r>
              <a:rPr lang="en-US" b="true" sz="36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Eya ZAYATI</a:t>
            </a:r>
          </a:p>
          <a:p>
            <a:pPr algn="l" marL="789681" indent="-394840" lvl="1">
              <a:lnSpc>
                <a:spcPts val="5120"/>
              </a:lnSpc>
              <a:buFont typeface="Arial"/>
              <a:buChar char="•"/>
            </a:pPr>
            <a:r>
              <a:rPr lang="en-US" b="true" sz="36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Yoser MOFTI</a:t>
            </a:r>
          </a:p>
          <a:p>
            <a:pPr algn="l" marL="789681" indent="-394840" lvl="1">
              <a:lnSpc>
                <a:spcPts val="5120"/>
              </a:lnSpc>
              <a:buFont typeface="Arial"/>
              <a:buChar char="•"/>
            </a:pPr>
            <a:r>
              <a:rPr lang="en-US" b="true" sz="36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 Aziz AZRI</a:t>
            </a:r>
          </a:p>
          <a:p>
            <a:pPr algn="l" marL="789681" indent="-394840" lvl="1">
              <a:lnSpc>
                <a:spcPts val="5120"/>
              </a:lnSpc>
              <a:buFont typeface="Arial"/>
              <a:buChar char="•"/>
            </a:pPr>
            <a:r>
              <a:rPr lang="en-US" b="true" sz="36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Anas SAIDI</a:t>
            </a:r>
          </a:p>
          <a:p>
            <a:pPr algn="l" marL="789681" indent="-394840" lvl="1">
              <a:lnSpc>
                <a:spcPts val="5120"/>
              </a:lnSpc>
              <a:buFont typeface="Arial"/>
              <a:buChar char="•"/>
            </a:pPr>
            <a:r>
              <a:rPr lang="en-US" b="true" sz="36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Dhafer SMAOUI</a:t>
            </a:r>
          </a:p>
          <a:p>
            <a:pPr algn="l">
              <a:lnSpc>
                <a:spcPts val="512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3765" y="1686710"/>
            <a:ext cx="1512662" cy="1512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3765" y="3573319"/>
            <a:ext cx="1512662" cy="151266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3765" y="5459927"/>
            <a:ext cx="1512662" cy="151266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3765" y="7346536"/>
            <a:ext cx="1512662" cy="151266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88458" y="285900"/>
            <a:ext cx="244756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PLAN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3270" y="2205741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91041" y="3732420"/>
            <a:ext cx="4958288" cy="11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  <a:spcBef>
                <a:spcPct val="0"/>
              </a:spcBef>
            </a:pPr>
            <a:r>
              <a:rPr lang="en-US" b="true" sz="32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Domaine d’application choisi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3270" y="4057882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91041" y="6000041"/>
            <a:ext cx="6640152" cy="15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3"/>
              </a:lnSpc>
            </a:pPr>
            <a:r>
              <a:rPr lang="en-US" b="true" sz="29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Impact sur les Objectifs de Développement Durable (ODD)</a:t>
            </a:r>
          </a:p>
          <a:p>
            <a:pPr algn="l">
              <a:lnSpc>
                <a:spcPts val="4093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53270" y="6009566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7912753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36018" y="1686710"/>
            <a:ext cx="1512662" cy="151266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36018" y="3573319"/>
            <a:ext cx="1512662" cy="151266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36018" y="5459927"/>
            <a:ext cx="1512662" cy="151266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12844" y="2236349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53294" y="4000390"/>
            <a:ext cx="4447632" cy="5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3"/>
              </a:lnSpc>
              <a:spcBef>
                <a:spcPct val="0"/>
              </a:spcBef>
            </a:pPr>
            <a:r>
              <a:rPr lang="en-US" b="true" sz="33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Entités communicantes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12844" y="4122957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90289" y="5718737"/>
            <a:ext cx="6987113" cy="11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  <a:spcBef>
                <a:spcPct val="0"/>
              </a:spcBef>
            </a:pPr>
            <a:r>
              <a:rPr lang="en-US" b="true" sz="32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Supports de communication et justification technique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12844" y="6009566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07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836018" y="7363115"/>
            <a:ext cx="1512662" cy="1512662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853506" y="7653978"/>
            <a:ext cx="4958288" cy="117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3"/>
              </a:lnSpc>
              <a:spcBef>
                <a:spcPct val="0"/>
              </a:spcBef>
            </a:pPr>
            <a:r>
              <a:rPr lang="en-US" b="true" sz="33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Technologies réseaux utilisées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12844" y="7912753"/>
            <a:ext cx="7590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691041" y="2131561"/>
            <a:ext cx="4958288" cy="5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  <a:spcBef>
                <a:spcPct val="0"/>
              </a:spcBef>
            </a:pPr>
            <a:r>
              <a:rPr lang="en-US" b="true" sz="32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</a:t>
            </a:r>
            <a:r>
              <a:rPr lang="en-US" b="true" sz="32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oduction à l’IoT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53506" y="1894832"/>
            <a:ext cx="4958288" cy="11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  <a:spcBef>
                <a:spcPct val="0"/>
              </a:spcBef>
            </a:pPr>
            <a:r>
              <a:rPr lang="en-US" b="true" sz="32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Arch</a:t>
            </a:r>
            <a:r>
              <a:rPr lang="en-US" b="true" sz="32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itecture d’un modèle IoT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691041" y="7681283"/>
            <a:ext cx="4958288" cy="11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  <a:spcBef>
                <a:spcPct val="0"/>
              </a:spcBef>
            </a:pPr>
            <a:r>
              <a:rPr lang="en-US" b="true" sz="32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</a:t>
            </a:r>
            <a:r>
              <a:rPr lang="en-US" b="true" sz="322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apteurs, actionneurs et données collectées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024" y="3493270"/>
            <a:ext cx="18457024" cy="8652080"/>
            <a:chOff x="0" y="0"/>
            <a:chExt cx="4861109" cy="2278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1109" cy="2278737"/>
            </a:xfrm>
            <a:custGeom>
              <a:avLst/>
              <a:gdLst/>
              <a:ahLst/>
              <a:cxnLst/>
              <a:rect r="r" b="b" t="t" l="l"/>
              <a:pathLst>
                <a:path h="2278737" w="4861109">
                  <a:moveTo>
                    <a:pt x="21392" y="0"/>
                  </a:moveTo>
                  <a:lnTo>
                    <a:pt x="4839717" y="0"/>
                  </a:lnTo>
                  <a:cubicBezTo>
                    <a:pt x="4845390" y="0"/>
                    <a:pt x="4850831" y="2254"/>
                    <a:pt x="4854844" y="6266"/>
                  </a:cubicBezTo>
                  <a:cubicBezTo>
                    <a:pt x="4858855" y="10277"/>
                    <a:pt x="4861109" y="15719"/>
                    <a:pt x="4861109" y="21392"/>
                  </a:cubicBezTo>
                  <a:lnTo>
                    <a:pt x="4861109" y="2257345"/>
                  </a:lnTo>
                  <a:cubicBezTo>
                    <a:pt x="4861109" y="2269159"/>
                    <a:pt x="4851531" y="2278737"/>
                    <a:pt x="4839717" y="2278737"/>
                  </a:cubicBezTo>
                  <a:lnTo>
                    <a:pt x="21392" y="2278737"/>
                  </a:lnTo>
                  <a:cubicBezTo>
                    <a:pt x="15719" y="2278737"/>
                    <a:pt x="10277" y="2276483"/>
                    <a:pt x="6266" y="2272471"/>
                  </a:cubicBezTo>
                  <a:cubicBezTo>
                    <a:pt x="2254" y="2268460"/>
                    <a:pt x="0" y="2263018"/>
                    <a:pt x="0" y="2257345"/>
                  </a:cubicBezTo>
                  <a:lnTo>
                    <a:pt x="0" y="21392"/>
                  </a:lnTo>
                  <a:cubicBezTo>
                    <a:pt x="0" y="15719"/>
                    <a:pt x="2254" y="10277"/>
                    <a:pt x="6266" y="6266"/>
                  </a:cubicBezTo>
                  <a:cubicBezTo>
                    <a:pt x="10277" y="2254"/>
                    <a:pt x="15719" y="0"/>
                    <a:pt x="21392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61109" cy="2316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279166" y="3983546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8914" y="3477088"/>
            <a:ext cx="9892693" cy="5070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69"/>
              </a:lnSpc>
            </a:pPr>
          </a:p>
          <a:p>
            <a:pPr algn="just" marL="781860" indent="-390930" lvl="1">
              <a:lnSpc>
                <a:spcPts val="5069"/>
              </a:lnSpc>
              <a:buFont typeface="Arial"/>
              <a:buChar char="•"/>
            </a:pPr>
            <a:r>
              <a:rPr lang="en-US" sz="3621" spc="-21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Domotique intelligente et solutions IoT pour l’automatisation résidentielle.</a:t>
            </a:r>
          </a:p>
          <a:p>
            <a:pPr algn="just" marL="781860" indent="-390930" lvl="1">
              <a:lnSpc>
                <a:spcPts val="5069"/>
              </a:lnSpc>
              <a:buFont typeface="Arial"/>
              <a:buChar char="•"/>
            </a:pPr>
            <a:r>
              <a:rPr lang="en-US" b="true" sz="3621" spc="-210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Secteur : </a:t>
            </a:r>
            <a:r>
              <a:rPr lang="en-US" sz="3621" spc="-21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Smart Home &amp; Habitat connecté.</a:t>
            </a:r>
          </a:p>
          <a:p>
            <a:pPr algn="just" marL="781860" indent="-390930" lvl="1">
              <a:lnSpc>
                <a:spcPts val="5069"/>
              </a:lnSpc>
              <a:buFont typeface="Arial"/>
              <a:buChar char="•"/>
            </a:pPr>
            <a:r>
              <a:rPr lang="en-US" b="true" sz="3621" spc="-210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Objectif : </a:t>
            </a:r>
            <a:r>
              <a:rPr lang="en-US" sz="3621" spc="-21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moderniser l’habitation grâce à des capteurs connectés et à des systèmes automatisés.</a:t>
            </a:r>
          </a:p>
          <a:p>
            <a:pPr algn="just">
              <a:lnSpc>
                <a:spcPts val="506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98105" y="788962"/>
            <a:ext cx="15675233" cy="143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29"/>
              </a:lnSpc>
            </a:pPr>
            <a:r>
              <a:rPr lang="en-US" b="true" sz="6033" spc="-349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2- Domaine d’application de notre Smart House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15272" y="-1505057"/>
            <a:ext cx="24972810" cy="14435315"/>
          </a:xfrm>
          <a:custGeom>
            <a:avLst/>
            <a:gdLst/>
            <a:ahLst/>
            <a:cxnLst/>
            <a:rect r="r" b="b" t="t" l="l"/>
            <a:pathLst>
              <a:path h="14435315" w="24972810">
                <a:moveTo>
                  <a:pt x="0" y="0"/>
                </a:moveTo>
                <a:lnTo>
                  <a:pt x="24972810" y="0"/>
                </a:lnTo>
                <a:lnTo>
                  <a:pt x="24972810" y="14435315"/>
                </a:lnTo>
                <a:lnTo>
                  <a:pt x="0" y="14435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-11198" r="0" b="-111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34282" y="1195251"/>
            <a:ext cx="8024255" cy="5845459"/>
          </a:xfrm>
          <a:custGeom>
            <a:avLst/>
            <a:gdLst/>
            <a:ahLst/>
            <a:cxnLst/>
            <a:rect r="r" b="b" t="t" l="l"/>
            <a:pathLst>
              <a:path h="5845459" w="8024255">
                <a:moveTo>
                  <a:pt x="0" y="0"/>
                </a:moveTo>
                <a:lnTo>
                  <a:pt x="8024255" y="0"/>
                </a:lnTo>
                <a:lnTo>
                  <a:pt x="8024255" y="5845459"/>
                </a:lnTo>
                <a:lnTo>
                  <a:pt x="0" y="5845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92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7319" y="728650"/>
            <a:ext cx="7596680" cy="9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  <a:spcBef>
                <a:spcPct val="0"/>
              </a:spcBef>
            </a:pPr>
            <a:r>
              <a:rPr lang="en-US" b="true" sz="2624">
                <a:solidFill>
                  <a:srgbClr val="000000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2.DOMAINES D’APPLICATION:SMART HOUSE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8789" y="2289866"/>
            <a:ext cx="7805210" cy="100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6"/>
              </a:lnSpc>
            </a:pPr>
            <a:r>
              <a:rPr lang="en-US" sz="284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Notre maison intelligente utilise des actionneurs pour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8789" y="3903468"/>
            <a:ext cx="11699447" cy="302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748" indent="-307374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Sécurisation du logement</a:t>
            </a:r>
          </a:p>
          <a:p>
            <a:pPr algn="l" marL="614748" indent="-307374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Détection des fuites (gaz et eau)</a:t>
            </a:r>
          </a:p>
          <a:p>
            <a:pPr algn="l" marL="614748" indent="-307374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 automatique de l’éclairage</a:t>
            </a:r>
          </a:p>
          <a:p>
            <a:pPr algn="l" marL="614748" indent="-307374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Systèmes d’alarme pour prévenir les accidents et intrusions</a:t>
            </a:r>
          </a:p>
          <a:p>
            <a:pPr algn="l" marL="614748" indent="-307374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Optimisation de la consommation d’énergie</a:t>
            </a:r>
          </a:p>
          <a:p>
            <a:pPr algn="l">
              <a:lnSpc>
                <a:spcPts val="398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15272" y="-1505057"/>
            <a:ext cx="24972810" cy="14435315"/>
          </a:xfrm>
          <a:custGeom>
            <a:avLst/>
            <a:gdLst/>
            <a:ahLst/>
            <a:cxnLst/>
            <a:rect r="r" b="b" t="t" l="l"/>
            <a:pathLst>
              <a:path h="14435315" w="24972810">
                <a:moveTo>
                  <a:pt x="0" y="0"/>
                </a:moveTo>
                <a:lnTo>
                  <a:pt x="24972810" y="0"/>
                </a:lnTo>
                <a:lnTo>
                  <a:pt x="24972810" y="14435315"/>
                </a:lnTo>
                <a:lnTo>
                  <a:pt x="0" y="14435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-11198" r="0" b="-111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83834" y="2298108"/>
            <a:ext cx="2928664" cy="2845392"/>
          </a:xfrm>
          <a:custGeom>
            <a:avLst/>
            <a:gdLst/>
            <a:ahLst/>
            <a:cxnLst/>
            <a:rect r="r" b="b" t="t" l="l"/>
            <a:pathLst>
              <a:path h="2845392" w="2928664">
                <a:moveTo>
                  <a:pt x="0" y="0"/>
                </a:moveTo>
                <a:lnTo>
                  <a:pt x="2928664" y="0"/>
                </a:lnTo>
                <a:lnTo>
                  <a:pt x="2928664" y="2845392"/>
                </a:lnTo>
                <a:lnTo>
                  <a:pt x="0" y="2845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63" r="0" b="-14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00563" y="5967244"/>
            <a:ext cx="3011936" cy="3011936"/>
          </a:xfrm>
          <a:custGeom>
            <a:avLst/>
            <a:gdLst/>
            <a:ahLst/>
            <a:cxnLst/>
            <a:rect r="r" b="b" t="t" l="l"/>
            <a:pathLst>
              <a:path h="3011936" w="3011936">
                <a:moveTo>
                  <a:pt x="0" y="0"/>
                </a:moveTo>
                <a:lnTo>
                  <a:pt x="3011935" y="0"/>
                </a:lnTo>
                <a:lnTo>
                  <a:pt x="3011935" y="3011936"/>
                </a:lnTo>
                <a:lnTo>
                  <a:pt x="0" y="3011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27319" y="728650"/>
            <a:ext cx="7596680" cy="4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  <a:spcBef>
                <a:spcPct val="0"/>
              </a:spcBef>
            </a:pPr>
            <a:r>
              <a:rPr lang="en-US" b="true" sz="2624">
                <a:solidFill>
                  <a:srgbClr val="000000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3. IMPACTS SUR LES ODDS: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66998" y="3437878"/>
            <a:ext cx="7805210" cy="49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748" indent="-307374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ODD 7 Energie propre et d’un cout abordable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66998" y="6974035"/>
            <a:ext cx="11699447" cy="49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748" indent="-307374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ODD 13 mesures relatives à la lutte contre les changements climatiques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15272" y="-1505057"/>
            <a:ext cx="24972810" cy="14435315"/>
          </a:xfrm>
          <a:custGeom>
            <a:avLst/>
            <a:gdLst/>
            <a:ahLst/>
            <a:cxnLst/>
            <a:rect r="r" b="b" t="t" l="l"/>
            <a:pathLst>
              <a:path h="14435315" w="24972810">
                <a:moveTo>
                  <a:pt x="0" y="0"/>
                </a:moveTo>
                <a:lnTo>
                  <a:pt x="24972810" y="0"/>
                </a:lnTo>
                <a:lnTo>
                  <a:pt x="24972810" y="14435315"/>
                </a:lnTo>
                <a:lnTo>
                  <a:pt x="0" y="14435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-11198" r="0" b="-1119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28284" y="2122209"/>
            <a:ext cx="2714415" cy="271441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746423" y="2119991"/>
            <a:ext cx="3107183" cy="3107183"/>
          </a:xfrm>
          <a:custGeom>
            <a:avLst/>
            <a:gdLst/>
            <a:ahLst/>
            <a:cxnLst/>
            <a:rect r="r" b="b" t="t" l="l"/>
            <a:pathLst>
              <a:path h="3107183" w="3107183">
                <a:moveTo>
                  <a:pt x="0" y="0"/>
                </a:moveTo>
                <a:lnTo>
                  <a:pt x="3107184" y="0"/>
                </a:lnTo>
                <a:lnTo>
                  <a:pt x="3107184" y="3107183"/>
                </a:lnTo>
                <a:lnTo>
                  <a:pt x="0" y="3107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91857" y="2286597"/>
            <a:ext cx="3611980" cy="2745302"/>
          </a:xfrm>
          <a:custGeom>
            <a:avLst/>
            <a:gdLst/>
            <a:ahLst/>
            <a:cxnLst/>
            <a:rect r="r" b="b" t="t" l="l"/>
            <a:pathLst>
              <a:path h="2745302" w="3611980">
                <a:moveTo>
                  <a:pt x="0" y="0"/>
                </a:moveTo>
                <a:lnTo>
                  <a:pt x="3611980" y="0"/>
                </a:lnTo>
                <a:lnTo>
                  <a:pt x="3611980" y="2745302"/>
                </a:lnTo>
                <a:lnTo>
                  <a:pt x="0" y="2745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409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46423" y="6884829"/>
            <a:ext cx="2127909" cy="1879819"/>
          </a:xfrm>
          <a:custGeom>
            <a:avLst/>
            <a:gdLst/>
            <a:ahLst/>
            <a:cxnLst/>
            <a:rect r="r" b="b" t="t" l="l"/>
            <a:pathLst>
              <a:path h="1879819" w="2127909">
                <a:moveTo>
                  <a:pt x="0" y="0"/>
                </a:moveTo>
                <a:lnTo>
                  <a:pt x="2127909" y="0"/>
                </a:lnTo>
                <a:lnTo>
                  <a:pt x="2127909" y="1879819"/>
                </a:lnTo>
                <a:lnTo>
                  <a:pt x="0" y="1879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604" t="-28801" r="-21379" b="-2626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32565" y="6995102"/>
            <a:ext cx="1769547" cy="1769547"/>
          </a:xfrm>
          <a:custGeom>
            <a:avLst/>
            <a:gdLst/>
            <a:ahLst/>
            <a:cxnLst/>
            <a:rect r="r" b="b" t="t" l="l"/>
            <a:pathLst>
              <a:path h="1769547" w="1769547">
                <a:moveTo>
                  <a:pt x="0" y="0"/>
                </a:moveTo>
                <a:lnTo>
                  <a:pt x="1769547" y="0"/>
                </a:lnTo>
                <a:lnTo>
                  <a:pt x="1769547" y="1769546"/>
                </a:lnTo>
                <a:lnTo>
                  <a:pt x="0" y="176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40055" y="7092339"/>
            <a:ext cx="1490872" cy="1575073"/>
          </a:xfrm>
          <a:custGeom>
            <a:avLst/>
            <a:gdLst/>
            <a:ahLst/>
            <a:cxnLst/>
            <a:rect r="r" b="b" t="t" l="l"/>
            <a:pathLst>
              <a:path h="1575073" w="1490872">
                <a:moveTo>
                  <a:pt x="0" y="0"/>
                </a:moveTo>
                <a:lnTo>
                  <a:pt x="1490873" y="0"/>
                </a:lnTo>
                <a:lnTo>
                  <a:pt x="1490873" y="1575073"/>
                </a:lnTo>
                <a:lnTo>
                  <a:pt x="0" y="15750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294" t="-14874" r="-22430" b="-2022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7319" y="728650"/>
            <a:ext cx="7596680" cy="9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  <a:spcBef>
                <a:spcPct val="0"/>
              </a:spcBef>
            </a:pPr>
            <a:r>
              <a:rPr lang="en-US" b="true" sz="2624">
                <a:solidFill>
                  <a:srgbClr val="000000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4. </a:t>
            </a:r>
            <a:r>
              <a:rPr lang="en-US" b="true" sz="2624">
                <a:solidFill>
                  <a:srgbClr val="000000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CAPTEURS, ACTIONNEURS ET DONNÉES COLLECTÉES: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74037" y="4731849"/>
            <a:ext cx="3231910" cy="4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capteur de mouvement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9302" y="4731849"/>
            <a:ext cx="2005031" cy="4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capteur d’eau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53763" y="4843450"/>
            <a:ext cx="2148349" cy="4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capteur de gaz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23431" y="8659873"/>
            <a:ext cx="1973894" cy="4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servo moteur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7847" y="8659873"/>
            <a:ext cx="1044257" cy="4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buzzer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13880" y="8659873"/>
            <a:ext cx="471612" cy="4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5397" y="-652508"/>
            <a:ext cx="19401339" cy="11740148"/>
          </a:xfrm>
          <a:custGeom>
            <a:avLst/>
            <a:gdLst/>
            <a:ahLst/>
            <a:cxnLst/>
            <a:rect r="r" b="b" t="t" l="l"/>
            <a:pathLst>
              <a:path h="11740148" w="19401339">
                <a:moveTo>
                  <a:pt x="0" y="0"/>
                </a:moveTo>
                <a:lnTo>
                  <a:pt x="19401339" y="0"/>
                </a:lnTo>
                <a:lnTo>
                  <a:pt x="19401339" y="11740148"/>
                </a:lnTo>
                <a:lnTo>
                  <a:pt x="0" y="11740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0" t="-20035" r="0" b="-236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7404" y="385916"/>
            <a:ext cx="6839662" cy="172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278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5-L’ARCHITECTURE D’UN MODELE IOT</a:t>
            </a:r>
          </a:p>
          <a:p>
            <a:pPr algn="l">
              <a:lnSpc>
                <a:spcPts val="458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9862385" y="2572146"/>
            <a:ext cx="8237903" cy="4126831"/>
            <a:chOff x="0" y="0"/>
            <a:chExt cx="1576009" cy="7895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6009" cy="789512"/>
            </a:xfrm>
            <a:custGeom>
              <a:avLst/>
              <a:gdLst/>
              <a:ahLst/>
              <a:cxnLst/>
              <a:rect r="r" b="b" t="t" l="l"/>
              <a:pathLst>
                <a:path h="789512" w="1576009">
                  <a:moveTo>
                    <a:pt x="93979" y="0"/>
                  </a:moveTo>
                  <a:lnTo>
                    <a:pt x="1482030" y="0"/>
                  </a:lnTo>
                  <a:cubicBezTo>
                    <a:pt x="1533933" y="0"/>
                    <a:pt x="1576009" y="42076"/>
                    <a:pt x="1576009" y="93979"/>
                  </a:cubicBezTo>
                  <a:lnTo>
                    <a:pt x="1576009" y="695533"/>
                  </a:lnTo>
                  <a:cubicBezTo>
                    <a:pt x="1576009" y="747436"/>
                    <a:pt x="1533933" y="789512"/>
                    <a:pt x="1482030" y="789512"/>
                  </a:cubicBezTo>
                  <a:lnTo>
                    <a:pt x="93979" y="789512"/>
                  </a:lnTo>
                  <a:cubicBezTo>
                    <a:pt x="42076" y="789512"/>
                    <a:pt x="0" y="747436"/>
                    <a:pt x="0" y="695533"/>
                  </a:cubicBezTo>
                  <a:lnTo>
                    <a:pt x="0" y="93979"/>
                  </a:lnTo>
                  <a:cubicBezTo>
                    <a:pt x="0" y="42076"/>
                    <a:pt x="42076" y="0"/>
                    <a:pt x="93979" y="0"/>
                  </a:cubicBezTo>
                  <a:close/>
                </a:path>
              </a:pathLst>
            </a:custGeom>
            <a:blipFill>
              <a:blip r:embed="rId3"/>
              <a:stretch>
                <a:fillRect l="-4376" t="-2847" r="-437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07404" y="2045718"/>
            <a:ext cx="8753432" cy="539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8"/>
              </a:lnSpc>
            </a:pPr>
            <a:r>
              <a:rPr lang="en-US" sz="3555">
                <a:solidFill>
                  <a:srgbClr val="000B3D"/>
                </a:solidFill>
                <a:latin typeface="Alice"/>
                <a:ea typeface="Alice"/>
                <a:cs typeface="Alice"/>
                <a:sym typeface="Alice"/>
              </a:rPr>
              <a:t>Une architecture IoT classique se compose de quatre couches principales :</a:t>
            </a:r>
          </a:p>
          <a:p>
            <a:pPr algn="l">
              <a:lnSpc>
                <a:spcPts val="5678"/>
              </a:lnSpc>
            </a:pPr>
            <a:r>
              <a:rPr lang="en-US" sz="4055">
                <a:solidFill>
                  <a:srgbClr val="00357A"/>
                </a:solidFill>
                <a:latin typeface="Alice"/>
                <a:ea typeface="Alice"/>
                <a:cs typeface="Alice"/>
                <a:sym typeface="Alice"/>
              </a:rPr>
              <a:t>1-Couche de perception (ou capteurs/actionneurs)</a:t>
            </a:r>
          </a:p>
          <a:p>
            <a:pPr algn="l" marL="616560" indent="-308280" lvl="1">
              <a:lnSpc>
                <a:spcPts val="3998"/>
              </a:lnSpc>
              <a:buFont typeface="Arial"/>
              <a:buChar char="•"/>
            </a:pPr>
            <a:r>
              <a:rPr lang="en-US" sz="285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Mesurer des données physiques : température, mouvement, gaz, humidité, etc.</a:t>
            </a:r>
          </a:p>
          <a:p>
            <a:pPr algn="l" marL="616560" indent="-308280" lvl="1">
              <a:lnSpc>
                <a:spcPts val="3998"/>
              </a:lnSpc>
              <a:buFont typeface="Arial"/>
              <a:buChar char="•"/>
            </a:pPr>
            <a:r>
              <a:rPr lang="en-US" sz="285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Envoyer ces données à la couche suivante</a:t>
            </a:r>
          </a:p>
          <a:p>
            <a:pPr algn="l">
              <a:lnSpc>
                <a:spcPts val="3158"/>
              </a:lnSpc>
            </a:pPr>
          </a:p>
          <a:p>
            <a:pPr algn="l">
              <a:lnSpc>
                <a:spcPts val="3158"/>
              </a:lnSpc>
            </a:pPr>
          </a:p>
          <a:p>
            <a:pPr algn="l">
              <a:lnSpc>
                <a:spcPts val="315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6277" y="6933997"/>
            <a:ext cx="6350789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961" indent="-313480" lvl="1">
              <a:lnSpc>
                <a:spcPts val="3484"/>
              </a:lnSpc>
              <a:buFont typeface="Arial"/>
              <a:buChar char="•"/>
            </a:pPr>
            <a:r>
              <a:rPr lang="en-US" sz="2903" spc="14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Capteur de mouvement </a:t>
            </a:r>
          </a:p>
          <a:p>
            <a:pPr algn="l" marL="626961" indent="-313480" lvl="1">
              <a:lnSpc>
                <a:spcPts val="3484"/>
              </a:lnSpc>
              <a:buFont typeface="Arial"/>
              <a:buChar char="•"/>
            </a:pPr>
            <a:r>
              <a:rPr lang="en-US" sz="2903" spc="14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Capteur de gaz </a:t>
            </a:r>
          </a:p>
          <a:p>
            <a:pPr algn="l" marL="626961" indent="-313480" lvl="1">
              <a:lnSpc>
                <a:spcPts val="3484"/>
              </a:lnSpc>
              <a:buFont typeface="Arial"/>
              <a:buChar char="•"/>
            </a:pPr>
            <a:r>
              <a:rPr lang="en-US" sz="2903" spc="14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Capteur d’eau </a:t>
            </a:r>
          </a:p>
          <a:p>
            <a:pPr algn="l" marL="626961" indent="-313480" lvl="1">
              <a:lnSpc>
                <a:spcPts val="3484"/>
              </a:lnSpc>
              <a:buFont typeface="Arial"/>
              <a:buChar char="•"/>
            </a:pPr>
            <a:r>
              <a:rPr lang="en-US" sz="2903" spc="14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LED</a:t>
            </a:r>
          </a:p>
          <a:p>
            <a:pPr algn="l" marL="626961" indent="-313480" lvl="1">
              <a:lnSpc>
                <a:spcPts val="3484"/>
              </a:lnSpc>
              <a:buFont typeface="Arial"/>
              <a:buChar char="•"/>
            </a:pPr>
            <a:r>
              <a:rPr lang="en-US" sz="2903" spc="14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Buzzeur</a:t>
            </a:r>
          </a:p>
          <a:p>
            <a:pPr algn="l" marL="626961" indent="-313480" lvl="1">
              <a:lnSpc>
                <a:spcPts val="3484"/>
              </a:lnSpc>
              <a:buFont typeface="Arial"/>
              <a:buChar char="•"/>
            </a:pPr>
            <a:r>
              <a:rPr lang="en-US" sz="2903" spc="145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Servo moteur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5397" y="-652508"/>
            <a:ext cx="19401339" cy="11740148"/>
          </a:xfrm>
          <a:custGeom>
            <a:avLst/>
            <a:gdLst/>
            <a:ahLst/>
            <a:cxnLst/>
            <a:rect r="r" b="b" t="t" l="l"/>
            <a:pathLst>
              <a:path h="11740148" w="19401339">
                <a:moveTo>
                  <a:pt x="0" y="0"/>
                </a:moveTo>
                <a:lnTo>
                  <a:pt x="19401339" y="0"/>
                </a:lnTo>
                <a:lnTo>
                  <a:pt x="19401339" y="11740148"/>
                </a:lnTo>
                <a:lnTo>
                  <a:pt x="0" y="11740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0" t="-20035" r="0" b="-236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597867" y="12764095"/>
            <a:ext cx="973215" cy="92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3"/>
              </a:lnSpc>
            </a:pPr>
            <a:r>
              <a:rPr lang="en-US" sz="6625" spc="-596">
                <a:solidFill>
                  <a:srgbClr val="18315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38585" y="2572146"/>
            <a:ext cx="8237903" cy="4126831"/>
            <a:chOff x="0" y="0"/>
            <a:chExt cx="1576009" cy="7895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6009" cy="789512"/>
            </a:xfrm>
            <a:custGeom>
              <a:avLst/>
              <a:gdLst/>
              <a:ahLst/>
              <a:cxnLst/>
              <a:rect r="r" b="b" t="t" l="l"/>
              <a:pathLst>
                <a:path h="789512" w="1576009">
                  <a:moveTo>
                    <a:pt x="93979" y="0"/>
                  </a:moveTo>
                  <a:lnTo>
                    <a:pt x="1482030" y="0"/>
                  </a:lnTo>
                  <a:cubicBezTo>
                    <a:pt x="1533933" y="0"/>
                    <a:pt x="1576009" y="42076"/>
                    <a:pt x="1576009" y="93979"/>
                  </a:cubicBezTo>
                  <a:lnTo>
                    <a:pt x="1576009" y="695533"/>
                  </a:lnTo>
                  <a:cubicBezTo>
                    <a:pt x="1576009" y="747436"/>
                    <a:pt x="1533933" y="789512"/>
                    <a:pt x="1482030" y="789512"/>
                  </a:cubicBezTo>
                  <a:lnTo>
                    <a:pt x="93979" y="789512"/>
                  </a:lnTo>
                  <a:cubicBezTo>
                    <a:pt x="42076" y="789512"/>
                    <a:pt x="0" y="747436"/>
                    <a:pt x="0" y="695533"/>
                  </a:cubicBezTo>
                  <a:lnTo>
                    <a:pt x="0" y="93979"/>
                  </a:lnTo>
                  <a:cubicBezTo>
                    <a:pt x="0" y="42076"/>
                    <a:pt x="42076" y="0"/>
                    <a:pt x="93979" y="0"/>
                  </a:cubicBezTo>
                  <a:close/>
                </a:path>
              </a:pathLst>
            </a:custGeom>
            <a:blipFill>
              <a:blip r:embed="rId3"/>
              <a:stretch>
                <a:fillRect l="-4376" t="-2847" r="-437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-395397" y="1938349"/>
            <a:ext cx="9498786" cy="63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6"/>
              </a:lnSpc>
              <a:spcBef>
                <a:spcPct val="0"/>
              </a:spcBef>
            </a:pPr>
            <a:r>
              <a:rPr lang="en-US" sz="3547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</a:t>
            </a:r>
            <a:r>
              <a:rPr lang="en-US" sz="3547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Couche de réseau (communication)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48102"/>
            <a:ext cx="4316154" cy="251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748" indent="-307374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 des données (du capteur → serveur)</a:t>
            </a:r>
          </a:p>
          <a:p>
            <a:pPr algn="l" marL="614748" indent="-307374" lvl="1">
              <a:lnSpc>
                <a:spcPts val="3986"/>
              </a:lnSpc>
              <a:buFont typeface="Arial"/>
              <a:buChar char="•"/>
            </a:pPr>
            <a:r>
              <a:rPr lang="en-US" sz="28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Codage en ligne, modulation, protocoles de communication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6792" y="5995991"/>
            <a:ext cx="8264246" cy="97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  <a:spcBef>
                <a:spcPct val="0"/>
              </a:spcBef>
            </a:pPr>
            <a:r>
              <a:rPr lang="en-US" sz="27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peut envoyer les données via Wi-Fi ou par câble USB/Serial à un ordinateur qui joue le rôle de serveur.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5397" y="-652508"/>
            <a:ext cx="19401339" cy="11740148"/>
          </a:xfrm>
          <a:custGeom>
            <a:avLst/>
            <a:gdLst/>
            <a:ahLst/>
            <a:cxnLst/>
            <a:rect r="r" b="b" t="t" l="l"/>
            <a:pathLst>
              <a:path h="11740148" w="19401339">
                <a:moveTo>
                  <a:pt x="0" y="0"/>
                </a:moveTo>
                <a:lnTo>
                  <a:pt x="19401339" y="0"/>
                </a:lnTo>
                <a:lnTo>
                  <a:pt x="19401339" y="11740148"/>
                </a:lnTo>
                <a:lnTo>
                  <a:pt x="0" y="11740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</a:blip>
            <a:stretch>
              <a:fillRect l="0" t="-20035" r="0" b="-236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597867" y="12764095"/>
            <a:ext cx="973215" cy="92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3"/>
              </a:lnSpc>
            </a:pPr>
            <a:r>
              <a:rPr lang="en-US" sz="6625" spc="-596">
                <a:solidFill>
                  <a:srgbClr val="18315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1951" y="8226183"/>
            <a:ext cx="10667524" cy="134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980" indent="-274990" lvl="1">
              <a:lnSpc>
                <a:spcPts val="3566"/>
              </a:lnSpc>
              <a:buFont typeface="Arial"/>
              <a:buChar char="•"/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Interpréter les données reçues</a:t>
            </a:r>
          </a:p>
          <a:p>
            <a:pPr algn="l" marL="549980" indent="-274990" lvl="1">
              <a:lnSpc>
                <a:spcPts val="3566"/>
              </a:lnSpc>
              <a:buFont typeface="Arial"/>
              <a:buChar char="•"/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Afficher les résultats à l’utilisateur(Dans notre cas on utilise une app mobile)  </a:t>
            </a:r>
          </a:p>
          <a:p>
            <a:pPr algn="l" marL="549980" indent="-274990" lvl="1">
              <a:lnSpc>
                <a:spcPts val="3566"/>
              </a:lnSpc>
              <a:buFont typeface="Arial"/>
              <a:buChar char="•"/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Déclencher des actions automatiques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759732" y="7312561"/>
            <a:ext cx="10558635" cy="59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6"/>
              </a:lnSpc>
              <a:spcBef>
                <a:spcPct val="0"/>
              </a:spcBef>
            </a:pPr>
            <a:r>
              <a:rPr lang="en-US" sz="3347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</a:t>
            </a:r>
            <a:r>
              <a:rPr lang="en-US" sz="3347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Couche application (traitement et affichage)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7454" y="1867216"/>
            <a:ext cx="12761351" cy="4926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980" indent="-274990" lvl="1">
              <a:lnSpc>
                <a:spcPts val="3566"/>
              </a:lnSpc>
              <a:buFont typeface="Arial"/>
              <a:buChar char="•"/>
            </a:pPr>
            <a:r>
              <a:rPr lang="en-US" b="true" sz="254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ROLE : </a:t>
            </a: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Dans notre système IoT, le traitement est effectué directement sur le microcontrôleur.</a:t>
            </a:r>
          </a:p>
          <a:p>
            <a:pPr algn="l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Cette couche se charge de :</a:t>
            </a:r>
          </a:p>
          <a:p>
            <a:pPr algn="l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interpréter les données des capteurs</a:t>
            </a:r>
          </a:p>
          <a:p>
            <a:pPr algn="l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comparer les valeurs aux seuils définis</a:t>
            </a:r>
          </a:p>
          <a:p>
            <a:pPr algn="l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prendre des décisions en temps réel</a:t>
            </a:r>
          </a:p>
          <a:p>
            <a:pPr algn="l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envoyer des commandes aux actionneurs</a:t>
            </a:r>
          </a:p>
          <a:p>
            <a:pPr algn="l" marL="549980" indent="-274990" lvl="1">
              <a:lnSpc>
                <a:spcPts val="3566"/>
              </a:lnSpc>
              <a:buFont typeface="Arial"/>
              <a:buChar char="•"/>
            </a:pPr>
            <a:r>
              <a:rPr lang="en-US" b="true" sz="254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dans notre cas</a:t>
            </a: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</a:p>
          <a:p>
            <a:pPr algn="l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capteur de mouvement active automatiquement la lumière</a:t>
            </a:r>
          </a:p>
          <a:p>
            <a:pPr algn="l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capteur de gaz déclenche une alarme sonore en cas de fuite</a:t>
            </a:r>
          </a:p>
          <a:p>
            <a:pPr algn="l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capteur de pluie ordonne l’ouverture d’une bâche de protection</a:t>
            </a:r>
          </a:p>
          <a:p>
            <a:pPr algn="l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Tout le traitement est local, sans cloud ni serveur externe.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0118" y="394837"/>
            <a:ext cx="9498786" cy="63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6"/>
              </a:lnSpc>
              <a:spcBef>
                <a:spcPct val="0"/>
              </a:spcBef>
            </a:pPr>
            <a:r>
              <a:rPr lang="en-US" sz="3547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</a:t>
            </a:r>
            <a:r>
              <a:rPr lang="en-US" sz="3547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Couche Traitement (Cloud / Edge Computing)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15272" y="-1505057"/>
            <a:ext cx="24972810" cy="14435315"/>
          </a:xfrm>
          <a:custGeom>
            <a:avLst/>
            <a:gdLst/>
            <a:ahLst/>
            <a:cxnLst/>
            <a:rect r="r" b="b" t="t" l="l"/>
            <a:pathLst>
              <a:path h="14435315" w="24972810">
                <a:moveTo>
                  <a:pt x="0" y="0"/>
                </a:moveTo>
                <a:lnTo>
                  <a:pt x="24972810" y="0"/>
                </a:lnTo>
                <a:lnTo>
                  <a:pt x="24972810" y="14435315"/>
                </a:lnTo>
                <a:lnTo>
                  <a:pt x="0" y="14435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-11198" r="0" b="-11198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4180862" y="2813698"/>
          <a:ext cx="5657850" cy="3771900"/>
        </p:xfrm>
        <a:graphic>
          <a:graphicData uri="http://schemas.openxmlformats.org/presentationml/2006/ole">
            <p:oleObj imgW="6781800" imgH="4902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20726" y="408349"/>
            <a:ext cx="7903653" cy="1722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5"/>
              </a:lnSpc>
              <a:spcBef>
                <a:spcPct val="0"/>
              </a:spcBef>
            </a:pPr>
            <a:r>
              <a:rPr lang="en-US" b="true" sz="495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6.LES ENTITÉS COMMUNICANTES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15272" y="-1505057"/>
            <a:ext cx="24972810" cy="14435315"/>
          </a:xfrm>
          <a:custGeom>
            <a:avLst/>
            <a:gdLst/>
            <a:ahLst/>
            <a:cxnLst/>
            <a:rect r="r" b="b" t="t" l="l"/>
            <a:pathLst>
              <a:path h="14435315" w="24972810">
                <a:moveTo>
                  <a:pt x="0" y="0"/>
                </a:moveTo>
                <a:lnTo>
                  <a:pt x="24972810" y="0"/>
                </a:lnTo>
                <a:lnTo>
                  <a:pt x="24972810" y="14435315"/>
                </a:lnTo>
                <a:lnTo>
                  <a:pt x="0" y="14435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-11198" r="0" b="-11198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2150741"/>
          <a:ext cx="13201650" cy="2514600"/>
        </p:xfrm>
        <a:graphic>
          <a:graphicData uri="http://schemas.openxmlformats.org/presentationml/2006/ole">
            <p:oleObj imgW="15836900" imgH="5143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45733" y="432162"/>
            <a:ext cx="8494833" cy="113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  <a:spcBef>
                <a:spcPct val="0"/>
              </a:spcBef>
            </a:pPr>
            <a:r>
              <a:rPr lang="en-US" b="true" sz="327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7.SUPPORTS DE COMMUNICATION ET JUSTIFICATION TECHNIQUE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15272" y="-1505057"/>
            <a:ext cx="24972810" cy="14435315"/>
          </a:xfrm>
          <a:custGeom>
            <a:avLst/>
            <a:gdLst/>
            <a:ahLst/>
            <a:cxnLst/>
            <a:rect r="r" b="b" t="t" l="l"/>
            <a:pathLst>
              <a:path h="14435315" w="24972810">
                <a:moveTo>
                  <a:pt x="0" y="0"/>
                </a:moveTo>
                <a:lnTo>
                  <a:pt x="24972810" y="0"/>
                </a:lnTo>
                <a:lnTo>
                  <a:pt x="24972810" y="14435315"/>
                </a:lnTo>
                <a:lnTo>
                  <a:pt x="0" y="14435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-11198" r="0" b="-11198"/>
            </a:stretch>
          </a:blipFill>
        </p:spPr>
      </p:sp>
      <p:grpSp>
        <p:nvGrpSpPr>
          <p:cNvPr name="Group 3" id="3"/>
          <p:cNvGrpSpPr/>
          <p:nvPr/>
        </p:nvGrpSpPr>
        <p:grpSpPr>
          <a:xfrm rot="8279186">
            <a:off x="18594465" y="-2026136"/>
            <a:ext cx="897167" cy="8752035"/>
            <a:chOff x="0" y="0"/>
            <a:chExt cx="236291" cy="23050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6291" cy="2305063"/>
            </a:xfrm>
            <a:custGeom>
              <a:avLst/>
              <a:gdLst/>
              <a:ahLst/>
              <a:cxnLst/>
              <a:rect r="r" b="b" t="t" l="l"/>
              <a:pathLst>
                <a:path h="2305063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2186917"/>
                  </a:lnTo>
                  <a:cubicBezTo>
                    <a:pt x="236291" y="2218251"/>
                    <a:pt x="223843" y="2248302"/>
                    <a:pt x="201687" y="2270459"/>
                  </a:cubicBezTo>
                  <a:cubicBezTo>
                    <a:pt x="179530" y="2292615"/>
                    <a:pt x="149480" y="2305063"/>
                    <a:pt x="118145" y="2305063"/>
                  </a:cubicBezTo>
                  <a:lnTo>
                    <a:pt x="118145" y="2305063"/>
                  </a:lnTo>
                  <a:cubicBezTo>
                    <a:pt x="86811" y="2305063"/>
                    <a:pt x="56761" y="2292615"/>
                    <a:pt x="34604" y="2270459"/>
                  </a:cubicBezTo>
                  <a:cubicBezTo>
                    <a:pt x="12447" y="2248302"/>
                    <a:pt x="0" y="2218251"/>
                    <a:pt x="0" y="2186917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6291" cy="2352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495258" y="1578520"/>
          <a:ext cx="7543800" cy="1885950"/>
        </p:xfrm>
        <a:graphic>
          <a:graphicData uri="http://schemas.openxmlformats.org/presentationml/2006/ole">
            <p:oleObj imgW="9042400" imgH="3390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304370" y="247650"/>
            <a:ext cx="6839662" cy="2297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27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📡 8. TECHNOLOGIES RÉSEAU UTILISÉES</a:t>
            </a:r>
          </a:p>
          <a:p>
            <a:pPr algn="l">
              <a:lnSpc>
                <a:spcPts val="4589"/>
              </a:lnSpc>
            </a:pPr>
          </a:p>
          <a:p>
            <a:pPr algn="l">
              <a:lnSpc>
                <a:spcPts val="45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2580" y="1366309"/>
            <a:ext cx="15377472" cy="15783983"/>
            <a:chOff x="0" y="0"/>
            <a:chExt cx="1256699" cy="1289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699" cy="1289920"/>
            </a:xfrm>
            <a:custGeom>
              <a:avLst/>
              <a:gdLst/>
              <a:ahLst/>
              <a:cxnLst/>
              <a:rect r="r" b="b" t="t" l="l"/>
              <a:pathLst>
                <a:path h="1289920" w="1256699">
                  <a:moveTo>
                    <a:pt x="11580" y="0"/>
                  </a:moveTo>
                  <a:lnTo>
                    <a:pt x="1245119" y="0"/>
                  </a:lnTo>
                  <a:cubicBezTo>
                    <a:pt x="1248190" y="0"/>
                    <a:pt x="1251135" y="1220"/>
                    <a:pt x="1253307" y="3392"/>
                  </a:cubicBezTo>
                  <a:cubicBezTo>
                    <a:pt x="1255479" y="5563"/>
                    <a:pt x="1256699" y="8508"/>
                    <a:pt x="1256699" y="11580"/>
                  </a:cubicBezTo>
                  <a:lnTo>
                    <a:pt x="1256699" y="1278340"/>
                  </a:lnTo>
                  <a:cubicBezTo>
                    <a:pt x="1256699" y="1281412"/>
                    <a:pt x="1255479" y="1284357"/>
                    <a:pt x="1253307" y="1286528"/>
                  </a:cubicBezTo>
                  <a:cubicBezTo>
                    <a:pt x="1251135" y="1288700"/>
                    <a:pt x="1248190" y="1289920"/>
                    <a:pt x="1245119" y="1289920"/>
                  </a:cubicBezTo>
                  <a:lnTo>
                    <a:pt x="11580" y="1289920"/>
                  </a:lnTo>
                  <a:cubicBezTo>
                    <a:pt x="8508" y="1289920"/>
                    <a:pt x="5563" y="1288700"/>
                    <a:pt x="3392" y="1286528"/>
                  </a:cubicBezTo>
                  <a:cubicBezTo>
                    <a:pt x="1220" y="1284357"/>
                    <a:pt x="0" y="1281412"/>
                    <a:pt x="0" y="1278340"/>
                  </a:cubicBezTo>
                  <a:lnTo>
                    <a:pt x="0" y="11580"/>
                  </a:lnTo>
                  <a:cubicBezTo>
                    <a:pt x="0" y="8508"/>
                    <a:pt x="1220" y="5563"/>
                    <a:pt x="3392" y="3392"/>
                  </a:cubicBezTo>
                  <a:cubicBezTo>
                    <a:pt x="5563" y="1220"/>
                    <a:pt x="8508" y="0"/>
                    <a:pt x="11580" y="0"/>
                  </a:cubicBezTo>
                  <a:close/>
                </a:path>
              </a:pathLst>
            </a:custGeom>
            <a:blipFill>
              <a:blip r:embed="rId2">
                <a:alphaModFix amt="44999"/>
              </a:blip>
              <a:stretch>
                <a:fillRect l="-149" t="0" r="-149" b="5346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51110" y="3173968"/>
            <a:ext cx="13185781" cy="104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8"/>
              </a:lnSpc>
              <a:spcBef>
                <a:spcPct val="0"/>
              </a:spcBef>
            </a:pPr>
            <a:r>
              <a:rPr lang="en-US" b="true" sz="612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MERCI POUR VOTRE ATTENTION.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25479" y="5057775"/>
            <a:ext cx="7906460" cy="159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 i="true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Merci de nous avoir accompagnés dans cette exploration de la technologie et de son pouvoir transformateur. Nous espérons que cette présentation vous a inspiré de nouvelles idées et perspectives sur la manière dont la technologie façonne notre monde.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DAG08zmCGiE</dc:identifier>
  <dcterms:modified xsi:type="dcterms:W3CDTF">2011-08-01T06:04:30Z</dcterms:modified>
  <cp:revision>1</cp:revision>
  <dc:title>IoT</dc:title>
</cp:coreProperties>
</file>